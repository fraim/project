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68" y="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4899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3C7537F-8F8F-4855-8202-10BE4D9E024A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36000" tIns="36000" rIns="36000" bIns="3600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60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327E907-E825-4BEA-A06A-F60E705763D6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_OBJEC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15" name="PlaceHolder 6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C771967-C786-4657-95DE-4E24D32CAA61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WO_OBJECTS_WITH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1" name="PlaceHolder 6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2" name="PlaceHolder 7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3" name="PlaceHolder 8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499BD5A-1A02-4EA6-9E9E-ACD911A0C2F3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OBJECT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AD7A5E01-64B5-4E95-B252-6966C2FA7755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PICTURE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32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6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DD2252B-3676-4B8D-9AEC-DE27AD2BED86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 bwMode="auto">
          <a:xfrm rot="5400000">
            <a:off x="3920760" y="-1256040"/>
            <a:ext cx="4350600" cy="1051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AD00CC3-21C9-4D5C-B04A-41DE5DC29B83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_TITLE_AND_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 bwMode="auto">
          <a:xfrm rot="5400000">
            <a:off x="7133760" y="1956240"/>
            <a:ext cx="5811120" cy="262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4400" b="0" u="none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 bwMode="auto">
          <a:xfrm rot="5400000">
            <a:off x="1800360" y="-596160"/>
            <a:ext cx="5811120" cy="773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u="none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CF4C71A-1802-46DD-8279-7EF8C9B8608B}" type="slidenum">
              <a:rPr lang="ru-RU" sz="1200" b="0" u="none" strike="noStrike">
                <a:solidFill>
                  <a:srgbClr val="888888"/>
                </a:solidFill>
                <a:latin typeface="Calibri"/>
                <a:ea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" name="Google Shape;73;p2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74;p2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75;p2"/>
          <p:cNvSpPr/>
          <p:nvPr/>
        </p:nvSpPr>
        <p:spPr bwMode="auto">
          <a:xfrm>
            <a:off x="522360" y="929879"/>
            <a:ext cx="1094796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>
                <a:solidFill>
                  <a:srgbClr val="082326"/>
                </a:solidFill>
                <a:latin typeface="Montserrat ExtraBold"/>
                <a:ea typeface="Montserrat ExtraBold"/>
              </a:rPr>
              <a:t>Shortlist кандидатов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76;p2"/>
          <p:cNvSpPr/>
          <p:nvPr/>
        </p:nvSpPr>
        <p:spPr bwMode="auto">
          <a:xfrm>
            <a:off x="527400" y="1364040"/>
            <a:ext cx="109432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800" b="1" u="none" strike="noStrike">
                <a:solidFill>
                  <a:schemeClr val="dk1"/>
                </a:solidFill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" name="Google Shape;77;p2"/>
          <p:cNvCxnSpPr>
            <a:cxnSpLocks/>
          </p:cNvCxnSpPr>
          <p:nvPr/>
        </p:nvCxnSpPr>
        <p:spPr bwMode="auto">
          <a:xfrm>
            <a:off x="0" y="34502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7" name="Google Shape;78;p2"/>
          <p:cNvCxnSpPr>
            <a:cxnSpLocks/>
          </p:cNvCxnSpPr>
          <p:nvPr/>
        </p:nvCxnSpPr>
        <p:spPr bwMode="auto">
          <a:xfrm>
            <a:off x="0" y="41630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8" name="Google Shape;79;p2"/>
          <p:cNvCxnSpPr>
            <a:cxnSpLocks/>
          </p:cNvCxnSpPr>
          <p:nvPr/>
        </p:nvCxnSpPr>
        <p:spPr bwMode="auto">
          <a:xfrm>
            <a:off x="0" y="48758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59" name="Google Shape;80;p2"/>
          <p:cNvSpPr/>
          <p:nvPr/>
        </p:nvSpPr>
        <p:spPr bwMode="auto">
          <a:xfrm>
            <a:off x="522360" y="2203200"/>
            <a:ext cx="200772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Название проекта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1;p2"/>
          <p:cNvSpPr/>
          <p:nvPr/>
        </p:nvSpPr>
        <p:spPr bwMode="auto">
          <a:xfrm>
            <a:off x="4216680" y="2203200"/>
            <a:ext cx="270216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Какую бизнес-задачу решаем?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2"/>
          <p:cNvSpPr/>
          <p:nvPr/>
        </p:nvSpPr>
        <p:spPr bwMode="auto">
          <a:xfrm>
            <a:off x="8605080" y="2203200"/>
            <a:ext cx="336024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Краткое описание </a:t>
            </a:r>
            <a:r>
              <a:rPr sz="1400"/>
              <a:t/>
            </a:r>
            <a:br>
              <a:rPr sz="1400"/>
            </a:br>
            <a:r>
              <a:rPr lang="ru-RU" sz="1200" b="1" u="none" strike="noStrike">
                <a:solidFill>
                  <a:schemeClr val="dk1"/>
                </a:solidFill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lang="ru-RU" sz="12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" name="Google Shape;83;p2"/>
          <p:cNvCxnSpPr>
            <a:cxnSpLocks/>
          </p:cNvCxnSpPr>
          <p:nvPr/>
        </p:nvCxnSpPr>
        <p:spPr bwMode="auto">
          <a:xfrm>
            <a:off x="87840" y="558828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3" name="Google Shape;84;p2"/>
          <p:cNvCxnSpPr>
            <a:cxnSpLocks/>
          </p:cNvCxnSpPr>
          <p:nvPr/>
        </p:nvCxnSpPr>
        <p:spPr bwMode="auto">
          <a:xfrm flipV="1">
            <a:off x="334548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4" name="Google Shape;85;p2"/>
          <p:cNvCxnSpPr>
            <a:cxnSpLocks/>
          </p:cNvCxnSpPr>
          <p:nvPr/>
        </p:nvCxnSpPr>
        <p:spPr bwMode="auto">
          <a:xfrm flipV="1">
            <a:off x="770400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65" name="Google Shape;86;p2"/>
          <p:cNvPicPr/>
          <p:nvPr/>
        </p:nvPicPr>
        <p:blipFill>
          <a:blip r:embed="rId4"/>
          <a:srcRect l="10" r="7"/>
          <a:stretch/>
        </p:blipFill>
        <p:spPr bwMode="auto">
          <a:xfrm>
            <a:off x="1080" y="0"/>
            <a:ext cx="121892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88;p2"/>
          <p:cNvSpPr/>
          <p:nvPr/>
        </p:nvSpPr>
        <p:spPr bwMode="auto">
          <a:xfrm>
            <a:off x="635040" y="1991160"/>
            <a:ext cx="8900279" cy="27995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5400" b="1" dirty="0">
                <a:solidFill>
                  <a:srgbClr val="082326"/>
                </a:solidFill>
                <a:latin typeface="Montserrat"/>
                <a:ea typeface="Montserrat"/>
              </a:rPr>
              <a:t>Разработка интернет-магазина </a:t>
            </a:r>
            <a:r>
              <a:rPr lang="en-US" sz="5400" b="1" dirty="0" err="1" smtClean="0">
                <a:solidFill>
                  <a:srgbClr val="082326"/>
                </a:solidFill>
                <a:latin typeface="Montserrat"/>
                <a:ea typeface="Montserrat"/>
              </a:rPr>
              <a:t>DogFood</a:t>
            </a:r>
            <a:endParaRPr lang="ru-RU" sz="5400" b="0" u="none" strike="noStrike" dirty="0" smtClean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Google Shape;89;p2"/>
          <p:cNvSpPr/>
          <p:nvPr/>
        </p:nvSpPr>
        <p:spPr bwMode="auto">
          <a:xfrm>
            <a:off x="527400" y="5784120"/>
            <a:ext cx="4079160" cy="8383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3600" b="0" u="none" strike="noStrike" dirty="0" smtClean="0">
                <a:solidFill>
                  <a:srgbClr val="082326"/>
                </a:solidFill>
                <a:latin typeface="Montserrat"/>
                <a:ea typeface="Montserrat"/>
              </a:rPr>
              <a:t>ФИО</a:t>
            </a: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6882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*Перечислить сервисы, программы, которые использовали, допустима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инфографика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Используемые технологии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скрины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Форма логина и регистрации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0596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Страница каталога товаров 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1956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Вид страницы товаров после обращения к поиску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751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Вид карточки товара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0161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Вид карточки «своего» товара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2368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Блок отзывов карточки товара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3197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Корзина с товарами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3713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Страница «Избранное»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27105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страницы интернет-магазина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Личный кабинет пользователя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1052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</a:t>
            </a: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формы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4728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600" u="none" strike="noStrike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</a:rPr>
              <a:t>Форма создания товара</a:t>
            </a: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3332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интернет-магазина </a:t>
            </a:r>
            <a:r>
              <a:rPr lang="en-US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DogFood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3" name="Google Shape;108;g2ec9d073a02_0_5"/>
          <p:cNvSpPr/>
          <p:nvPr/>
        </p:nvSpPr>
        <p:spPr bwMode="auto">
          <a:xfrm>
            <a:off x="555622" y="2276872"/>
            <a:ext cx="10947960" cy="38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*Вставьте </a:t>
            </a:r>
            <a:r>
              <a:rPr lang="ru-RU" sz="2000" u="none" strike="noStrike" dirty="0" err="1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скрины</a:t>
            </a:r>
            <a:r>
              <a:rPr lang="ru-RU" sz="2000" u="none" strike="noStrike" dirty="0" smtClean="0">
                <a:solidFill>
                  <a:srgbClr val="082326"/>
                </a:solidFill>
                <a:latin typeface="Montserrat ExtraLight" panose="00000300000000000000" pitchFamily="2" charset="-52"/>
                <a:ea typeface="Montserrat ExtraBold"/>
              </a:rPr>
              <a:t> примеров</a:t>
            </a:r>
            <a:endParaRPr lang="ru-RU" sz="2000" u="none" strike="noStrike" dirty="0">
              <a:solidFill>
                <a:srgbClr val="000000"/>
              </a:solidFill>
              <a:latin typeface="Montserrat ExtraLight" panose="00000300000000000000" pitchFamily="2" charset="-52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903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tabLst>
                <a:tab pos="0" algn="l"/>
              </a:tabLst>
              <a:defRPr/>
            </a:pPr>
            <a:r>
              <a:rPr lang="en-US" sz="2600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React </a:t>
            </a:r>
            <a:r>
              <a:rPr lang="en-US" sz="2600" dirty="0" err="1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toastify</a:t>
            </a:r>
            <a:r>
              <a:rPr lang="en-US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 – </a:t>
            </a:r>
            <a:r>
              <a:rPr lang="ru-RU" sz="2600" dirty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примеры уведомлений</a:t>
            </a:r>
          </a:p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4886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" name="Google Shape;73;p2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74;p2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Google Shape;75;p2"/>
          <p:cNvSpPr/>
          <p:nvPr/>
        </p:nvSpPr>
        <p:spPr bwMode="auto">
          <a:xfrm>
            <a:off x="522360" y="929879"/>
            <a:ext cx="10947960" cy="43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>
                <a:solidFill>
                  <a:srgbClr val="082326"/>
                </a:solidFill>
                <a:latin typeface="Montserrat ExtraBold"/>
                <a:ea typeface="Montserrat ExtraBold"/>
              </a:rPr>
              <a:t>Shortlist кандидатов</a:t>
            </a:r>
            <a:endParaRPr lang="ru-RU" sz="2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Google Shape;76;p2"/>
          <p:cNvSpPr/>
          <p:nvPr/>
        </p:nvSpPr>
        <p:spPr bwMode="auto">
          <a:xfrm>
            <a:off x="527400" y="1364040"/>
            <a:ext cx="10943280" cy="2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800" b="1" u="none" strike="noStrike">
                <a:solidFill>
                  <a:schemeClr val="dk1"/>
                </a:solidFill>
                <a:latin typeface="Play"/>
                <a:ea typeface="Play"/>
              </a:rPr>
              <a:t>Придумайте 3-5 вариантов задач, которые могли бы стать вашим финальным проектом на курсе</a:t>
            </a:r>
            <a:endParaRPr lang="ru-RU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6" name="Google Shape;77;p2"/>
          <p:cNvCxnSpPr>
            <a:cxnSpLocks/>
          </p:cNvCxnSpPr>
          <p:nvPr/>
        </p:nvCxnSpPr>
        <p:spPr bwMode="auto">
          <a:xfrm>
            <a:off x="0" y="34502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7" name="Google Shape;78;p2"/>
          <p:cNvCxnSpPr>
            <a:cxnSpLocks/>
          </p:cNvCxnSpPr>
          <p:nvPr/>
        </p:nvCxnSpPr>
        <p:spPr bwMode="auto">
          <a:xfrm>
            <a:off x="0" y="41630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58" name="Google Shape;79;p2"/>
          <p:cNvCxnSpPr>
            <a:cxnSpLocks/>
          </p:cNvCxnSpPr>
          <p:nvPr/>
        </p:nvCxnSpPr>
        <p:spPr bwMode="auto">
          <a:xfrm>
            <a:off x="0" y="487584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sp>
        <p:nvSpPr>
          <p:cNvPr id="59" name="Google Shape;80;p2"/>
          <p:cNvSpPr/>
          <p:nvPr/>
        </p:nvSpPr>
        <p:spPr bwMode="auto">
          <a:xfrm>
            <a:off x="522360" y="2203200"/>
            <a:ext cx="200772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Название проекта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1;p2"/>
          <p:cNvSpPr/>
          <p:nvPr/>
        </p:nvSpPr>
        <p:spPr bwMode="auto">
          <a:xfrm>
            <a:off x="4216680" y="2203200"/>
            <a:ext cx="2702160" cy="21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Какую бизнес-задачу решаем?</a:t>
            </a:r>
            <a:endParaRPr lang="ru-RU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2"/>
          <p:cNvSpPr/>
          <p:nvPr/>
        </p:nvSpPr>
        <p:spPr bwMode="auto">
          <a:xfrm>
            <a:off x="8605080" y="2203200"/>
            <a:ext cx="336024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1400" b="0" u="none" strike="noStrike">
                <a:solidFill>
                  <a:schemeClr val="dk1"/>
                </a:solidFill>
                <a:latin typeface="Play"/>
                <a:ea typeface="Play"/>
              </a:rPr>
              <a:t>Краткое описание </a:t>
            </a:r>
            <a:r>
              <a:rPr sz="1400"/>
              <a:t/>
            </a:r>
            <a:br>
              <a:rPr sz="1400"/>
            </a:br>
            <a:r>
              <a:rPr lang="ru-RU" sz="1200" b="1" u="none" strike="noStrike">
                <a:solidFill>
                  <a:schemeClr val="dk1"/>
                </a:solidFill>
                <a:latin typeface="Play"/>
                <a:ea typeface="Play"/>
              </a:rPr>
              <a:t>(по возможности укажите какие AI модели планируете использовать)</a:t>
            </a:r>
            <a:endParaRPr lang="ru-RU" sz="12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2" name="Google Shape;83;p2"/>
          <p:cNvCxnSpPr>
            <a:cxnSpLocks/>
          </p:cNvCxnSpPr>
          <p:nvPr/>
        </p:nvCxnSpPr>
        <p:spPr bwMode="auto">
          <a:xfrm>
            <a:off x="87840" y="5588280"/>
            <a:ext cx="12328920" cy="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3" name="Google Shape;84;p2"/>
          <p:cNvCxnSpPr>
            <a:cxnSpLocks/>
          </p:cNvCxnSpPr>
          <p:nvPr/>
        </p:nvCxnSpPr>
        <p:spPr bwMode="auto">
          <a:xfrm flipV="1">
            <a:off x="334548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cxnSp>
        <p:nvCxnSpPr>
          <p:cNvPr id="64" name="Google Shape;85;p2"/>
          <p:cNvCxnSpPr>
            <a:cxnSpLocks/>
          </p:cNvCxnSpPr>
          <p:nvPr/>
        </p:nvCxnSpPr>
        <p:spPr bwMode="auto">
          <a:xfrm flipV="1">
            <a:off x="7704000" y="2670840"/>
            <a:ext cx="720" cy="3852720"/>
          </a:xfrm>
          <a:prstGeom prst="straightConnector1">
            <a:avLst/>
          </a:prstGeom>
          <a:ln w="12700">
            <a:solidFill>
              <a:srgbClr val="D0CECE"/>
            </a:solidFill>
            <a:prstDash val="dash"/>
            <a:round/>
          </a:ln>
        </p:spPr>
      </p:cxnSp>
      <p:pic>
        <p:nvPicPr>
          <p:cNvPr id="65" name="Google Shape;86;p2"/>
          <p:cNvPicPr/>
          <p:nvPr/>
        </p:nvPicPr>
        <p:blipFill>
          <a:blip r:embed="rId4"/>
          <a:srcRect l="10" r="7"/>
          <a:stretch/>
        </p:blipFill>
        <p:spPr bwMode="auto">
          <a:xfrm>
            <a:off x="1080" y="0"/>
            <a:ext cx="121892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88;p2"/>
          <p:cNvSpPr/>
          <p:nvPr/>
        </p:nvSpPr>
        <p:spPr bwMode="auto">
          <a:xfrm>
            <a:off x="635040" y="1991160"/>
            <a:ext cx="8900279" cy="18189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r>
              <a:rPr lang="ru-RU" sz="5400" b="1" dirty="0" smtClean="0">
                <a:solidFill>
                  <a:srgbClr val="082326"/>
                </a:solidFill>
                <a:latin typeface="Montserrat"/>
                <a:ea typeface="Montserrat"/>
              </a:rPr>
              <a:t>Выводы</a:t>
            </a:r>
            <a:endParaRPr lang="ru-RU" sz="5400" b="0" u="none" strike="noStrike" dirty="0" smtClean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8000"/>
              </a:lnSpc>
              <a:tabLst>
                <a:tab pos="0" algn="l"/>
              </a:tabLst>
              <a:defRPr/>
            </a:pPr>
            <a:endParaRPr lang="ru-RU" sz="3600" b="0" u="none" strike="noStrike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906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9344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Выводы по итогу обучения по программе «</a:t>
            </a:r>
            <a:r>
              <a:rPr lang="ru-RU" sz="2800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Разработка 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</a:rPr>
              <a:t>на </a:t>
            </a:r>
            <a:r>
              <a:rPr lang="ru-RU" sz="2800" dirty="0" err="1">
                <a:solidFill>
                  <a:srgbClr val="082326"/>
                </a:solidFill>
                <a:latin typeface="Montserrat ExtraBold"/>
                <a:ea typeface="Montserrat ExtraBold"/>
              </a:rPr>
              <a:t>ReactJS</a:t>
            </a:r>
            <a:r>
              <a:rPr lang="ru-RU" sz="2800" dirty="0">
                <a:solidFill>
                  <a:srgbClr val="082326"/>
                </a:solidFill>
                <a:latin typeface="Montserrat ExtraBold"/>
                <a:ea typeface="Montserrat ExtraBold"/>
              </a:rPr>
              <a:t>: продвинутый </a:t>
            </a:r>
            <a:r>
              <a:rPr lang="ru-RU" sz="2800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уровень»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2360" y="1772816"/>
            <a:ext cx="10947960" cy="247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tabLst>
                <a:tab pos="0" algn="l"/>
              </a:tabLst>
              <a:defRPr/>
            </a:pPr>
            <a:r>
              <a:rPr lang="ru-RU" sz="2600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Опишите:</a:t>
            </a:r>
          </a:p>
          <a:p>
            <a:pPr marL="457200" indent="-45720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ru-RU" sz="2600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чему научились на программе;</a:t>
            </a:r>
          </a:p>
          <a:p>
            <a:pPr marL="457200" indent="-45720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ru-RU" sz="2600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с какими сложностями столкнулись;</a:t>
            </a:r>
          </a:p>
          <a:p>
            <a:pPr marL="457200" indent="-457200"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ru-RU" sz="2600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какие темы хотели бы изучить глубже, что добавили бы в проект</a:t>
            </a:r>
            <a:endParaRPr lang="ru-RU" sz="2600" dirty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  <a:sym typeface="SB Sans Display Regular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403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" name="Google Shape;106;g2ec9d073a02_0_5"/>
          <p:cNvPicPr/>
          <p:nvPr/>
        </p:nvPicPr>
        <p:blipFill>
          <a:blip r:embed="rId2"/>
          <a:srcRect t="183" b="183"/>
          <a:stretch/>
        </p:blipFill>
        <p:spPr bwMode="auto">
          <a:xfrm>
            <a:off x="1080" y="0"/>
            <a:ext cx="12189240" cy="78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07;g2ec9d073a02_0_5"/>
          <p:cNvPicPr/>
          <p:nvPr/>
        </p:nvPicPr>
        <p:blipFill>
          <a:blip r:embed="rId3"/>
          <a:srcRect t="1000" b="1001"/>
          <a:stretch/>
        </p:blipFill>
        <p:spPr bwMode="auto">
          <a:xfrm>
            <a:off x="9288360" y="272160"/>
            <a:ext cx="2519280" cy="22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g2ec9d073a02_0_5"/>
          <p:cNvSpPr/>
          <p:nvPr/>
        </p:nvSpPr>
        <p:spPr bwMode="auto">
          <a:xfrm>
            <a:off x="522360" y="929879"/>
            <a:ext cx="10947960" cy="5035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ru-RU" sz="2800" b="0" u="none" strike="noStrike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Списо</a:t>
            </a:r>
            <a:r>
              <a:rPr lang="ru-RU" sz="2800" dirty="0" smtClean="0">
                <a:solidFill>
                  <a:srgbClr val="082326"/>
                </a:solidFill>
                <a:latin typeface="Montserrat ExtraBold"/>
                <a:ea typeface="Montserrat ExtraBold"/>
              </a:rPr>
              <a:t>к используемых источников</a:t>
            </a:r>
            <a:endParaRPr lang="ru-RU" sz="2800" dirty="0">
              <a:solidFill>
                <a:srgbClr val="082326"/>
              </a:solidFill>
              <a:latin typeface="Montserrat ExtraBold"/>
              <a:ea typeface="Montserrat ExtraBold"/>
            </a:endParaRPr>
          </a:p>
        </p:txBody>
      </p:sp>
      <p:sp>
        <p:nvSpPr>
          <p:cNvPr id="24" name="Google Shape;108;g2ec9d073a02_0_5"/>
          <p:cNvSpPr/>
          <p:nvPr/>
        </p:nvSpPr>
        <p:spPr bwMode="auto">
          <a:xfrm>
            <a:off x="520776" y="1627123"/>
            <a:ext cx="10947960" cy="903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>
              <a:tabLst>
                <a:tab pos="0" algn="l"/>
              </a:tabLst>
              <a:defRPr/>
            </a:pPr>
            <a:r>
              <a:rPr lang="ru-RU" sz="2600" dirty="0" smtClean="0">
                <a:solidFill>
                  <a:srgbClr val="082326"/>
                </a:solidFill>
                <a:latin typeface="Montserrat SemiBold" panose="00000700000000000000" pitchFamily="2" charset="-52"/>
                <a:ea typeface="Montserrat ExtraBold"/>
                <a:sym typeface="SB Sans Display Regular"/>
              </a:rPr>
              <a:t>*Добавьте ссылки</a:t>
            </a:r>
            <a:endParaRPr lang="ru-RU" sz="2600" dirty="0">
              <a:solidFill>
                <a:srgbClr val="082326"/>
              </a:solidFill>
              <a:latin typeface="Montserrat SemiBold" panose="00000700000000000000" pitchFamily="2" charset="-52"/>
              <a:ea typeface="Montserrat ExtraBold"/>
              <a:sym typeface="SB Sans Display Regular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endParaRPr lang="ru-RU" sz="2600" u="none" strike="noStrike" dirty="0">
              <a:solidFill>
                <a:srgbClr val="000000"/>
              </a:solidFill>
              <a:latin typeface="Montserrat Semi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8591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242</Words>
  <Application>Microsoft Office PowerPoint</Application>
  <DocSecurity>0</DocSecurity>
  <PresentationFormat>Широкоэкранный</PresentationFormat>
  <Paragraphs>56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8" baseType="lpstr">
      <vt:lpstr>Arial</vt:lpstr>
      <vt:lpstr>Calibri</vt:lpstr>
      <vt:lpstr>Montserrat</vt:lpstr>
      <vt:lpstr>Montserrat ExtraBold</vt:lpstr>
      <vt:lpstr>Montserrat ExtraLight</vt:lpstr>
      <vt:lpstr>Montserrat SemiBold</vt:lpstr>
      <vt:lpstr>Play</vt:lpstr>
      <vt:lpstr>SB Sans Display Regular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synkka synkka</dc:creator>
  <cp:keywords/>
  <dc:description/>
  <cp:lastModifiedBy>Пользователь Windows</cp:lastModifiedBy>
  <cp:revision>9</cp:revision>
  <dcterms:created xsi:type="dcterms:W3CDTF">2022-04-05T09:52:12Z</dcterms:created>
  <dcterms:modified xsi:type="dcterms:W3CDTF">2025-11-18T08:24:48Z</dcterms:modified>
  <cp:category/>
  <dc:identifier/>
  <cp:contentStatus/>
  <dc:language>ru-RU</dc:language>
  <cp:version/>
</cp:coreProperties>
</file>